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329184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C8019"/>
                </a:solidFill>
                <a:latin typeface="Segoe UI"/>
              </a:defRPr>
            </a:pPr>
            <a:r>
              <a:t>KALASALINGAM ACADEMY OF RESEARCH AND EDUCATION</a:t>
            </a:r>
          </a:p>
          <a:p>
            <a:pPr>
              <a:spcAft>
                <a:spcPts val="2000"/>
              </a:spcAft>
              <a:defRPr sz="1200">
                <a:solidFill>
                  <a:srgbClr val="B4BEDC"/>
                </a:solidFill>
                <a:latin typeface="Segoe UI"/>
              </a:defRPr>
            </a:pPr>
            <a:r>
              <a:t>Department of Computer Science &amp; Engineering — Cyber Security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SMART CANTEEN TOKEN SYSTEM</a:t>
            </a:r>
          </a:p>
          <a:p>
            <a:pPr>
              <a:defRPr sz="1600">
                <a:solidFill>
                  <a:srgbClr val="DCE1F0"/>
                </a:solidFill>
                <a:latin typeface="Segoe UI"/>
              </a:defRPr>
            </a:pPr>
            <a:r>
              <a:t>Automated Web-Based Food Ordering, Real-Time Token Generation &amp; Kitchen Display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468880" cy="1280160"/>
          </a:xfrm>
          <a:prstGeom prst="roundRect">
            <a:avLst/>
          </a:prstGeom>
          <a:solidFill>
            <a:srgbClr val="1F2A5C"/>
          </a:solidFill>
          <a:ln w="12700">
            <a:solidFill>
              <a:srgbClr val="2B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8019"/>
                </a:solidFill>
                <a:latin typeface="Segoe UI"/>
              </a:defRPr>
            </a:pPr>
            <a:r>
              <a:t>TECH STACK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Java 17 • Spring Boot 3 • JPA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754880"/>
            <a:ext cx="2468880" cy="1280160"/>
          </a:xfrm>
          <a:prstGeom prst="roundRect">
            <a:avLst/>
          </a:prstGeom>
          <a:solidFill>
            <a:srgbClr val="1F2A5C"/>
          </a:solidFill>
          <a:ln w="12700">
            <a:solidFill>
              <a:srgbClr val="2B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8019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Supabase Cloud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2468880" cy="1280160"/>
          </a:xfrm>
          <a:prstGeom prst="roundRect">
            <a:avLst/>
          </a:prstGeom>
          <a:solidFill>
            <a:srgbClr val="1F2A5C"/>
          </a:solidFill>
          <a:ln w="12700">
            <a:solidFill>
              <a:srgbClr val="2B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8019"/>
                </a:solidFill>
                <a:latin typeface="Segoe UI"/>
              </a:defRPr>
            </a:pPr>
            <a:r>
              <a:t>SECURITY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Spring Security 6 • BCrypt • CSRF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754880"/>
            <a:ext cx="2468880" cy="1280160"/>
          </a:xfrm>
          <a:prstGeom prst="roundRect">
            <a:avLst/>
          </a:prstGeom>
          <a:solidFill>
            <a:srgbClr val="1F2A5C"/>
          </a:solidFill>
          <a:ln w="12700">
            <a:solidFill>
              <a:srgbClr val="2B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8019"/>
                </a:solidFill>
                <a:latin typeface="Segoe UI"/>
              </a:defRPr>
            </a:pPr>
            <a:r>
              <a:t>UI / UX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Swiggy / Zomato Food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Project Overview &amp; Campus Background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Digital transformation of Kalasalingam Academy campus dining facilities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788920" cy="365760"/>
          </a:xfrm>
          <a:prstGeom prst="round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CAMPUS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1C3A"/>
                </a:solidFill>
                <a:latin typeface="Segoe UI"/>
              </a:defRPr>
            </a:pPr>
            <a:r>
              <a:t>Kalasalingam Academy Canteen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Peak Hour Crunch: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Over 5,000+ students and faculty rush to campus canteens between 12:30 PM - 2:00 PM.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Physical Bottlenecks: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Manual counter queues lead to chaos, missed lectures, and delayed food preparation.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Digital Campus Mission: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KARE is driving smart campus digitization across student services &amp;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55448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90872" y="1828800"/>
            <a:ext cx="2788920" cy="365760"/>
          </a:xfrm>
          <a:prstGeom prst="round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1C3A"/>
                </a:solidFill>
                <a:latin typeface="Segoe UI"/>
              </a:defRPr>
            </a:pPr>
            <a:r>
              <a:t>Smart Canteen Token System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Direct Mobile Ordering: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Students order South Indian delicacies directly from their phones or laptops.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Unique Digital Tokens: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Automated collision-proof sequential tokens (T-0001, T-0002) generated instantly.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Kitchen Display System: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Kitchen chefs receive live order queues and manage prep states in one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5448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75904" y="1828800"/>
            <a:ext cx="2788920" cy="365760"/>
          </a:xfrm>
          <a:prstGeom prst="round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CYBER SECURITY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1C3A"/>
                </a:solidFill>
                <a:latin typeface="Segoe UI"/>
              </a:defRPr>
            </a:pPr>
            <a:r>
              <a:t>Enterprise Security Standards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Role-Based Access (RBAC):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Strict security partition between Students and Canteen Kitchen Admins.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BCrypt Password Hashing: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Zero plain-text credentials; salted one-way hashing for user safety.</a:t>
            </a:r>
          </a:p>
          <a:p>
            <a:pPr>
              <a:defRPr sz="1100" b="1">
                <a:solidFill>
                  <a:srgbClr val="1F2A5C"/>
                </a:solidFill>
                <a:latin typeface="Segoe UI"/>
              </a:defRPr>
            </a:pPr>
            <a:r>
              <a:t>•  Anti-CSRF &amp; Parameterized JPA: </a:t>
            </a:r>
          </a:p>
          <a:p>
            <a:pPr>
              <a:spcAft>
                <a:spcPts val="8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Full protection against Cross-Site Request Forgery and SQL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CHALLENGES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Problem Statement: Traditional Canteen System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Critical operational and security drawbacks observed in manual counter ticketing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BE2828"/>
                </a:solidFill>
                <a:latin typeface="Segoe UI"/>
              </a:defRPr>
            </a:pPr>
            <a:r>
              <a:t>Operational Flaws in Manual Canteens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❌  Chaotic Physical Queues</a:t>
            </a:r>
          </a:p>
          <a:p>
            <a:pPr>
              <a:spcAft>
                <a:spcPts val="6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 Students crowd around billing counters for 15-25 minutes, leading to congestion and unhygienic conditions.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❌  Token Collisions &amp; Paper Loss</a:t>
            </a:r>
          </a:p>
          <a:p>
            <a:pPr>
              <a:spcAft>
                <a:spcPts val="6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 Paper slips easily get lost, smudged, or mixed up between students, causing disputes at the serving counter.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❌  No Stock Visibility</a:t>
            </a:r>
          </a:p>
          <a:p>
            <a:pPr>
              <a:spcAft>
                <a:spcPts val="6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 Students wait in line only to discover their desired dish (e.g. Masala Dosa or Biryani) is sold out.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❌  Accounting Inaccuracies</a:t>
            </a:r>
          </a:p>
          <a:p>
            <a:pPr>
              <a:spcAft>
                <a:spcPts val="6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 Manual cash logging and paper bookkeeping create daily revenue leakage and reconciliation errors.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❌  Security Vulnerabilities</a:t>
            </a:r>
          </a:p>
          <a:p>
            <a:pPr>
              <a:spcAft>
                <a:spcPts val="6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 Paper coupons can be easily counterfeited or reused with zero audit logs or digital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2A5C"/>
                </a:solidFill>
                <a:latin typeface="Segoe UI"/>
              </a:defRPr>
            </a:pPr>
            <a:r>
              <a:t>Impact on College Stakeholders</a:t>
            </a:r>
          </a:p>
          <a:p>
            <a:pPr>
              <a:defRPr sz="1150" b="1">
                <a:solidFill>
                  <a:srgbClr val="FC8019"/>
                </a:solidFill>
                <a:latin typeface="Segoe UI"/>
              </a:defRPr>
            </a:pPr>
            <a:r>
              <a:t>⚠️  Students</a:t>
            </a:r>
          </a:p>
          <a:p>
            <a:pPr>
              <a:spcAft>
                <a:spcPts val="10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  Significant study and recess break time lost standing in line; missed hot meal slots during tight 45-minute lunch intervals.</a:t>
            </a:r>
          </a:p>
          <a:p>
            <a:pPr>
              <a:defRPr sz="1150" b="1">
                <a:solidFill>
                  <a:srgbClr val="FC8019"/>
                </a:solidFill>
                <a:latin typeface="Segoe UI"/>
              </a:defRPr>
            </a:pPr>
            <a:r>
              <a:t>⚠️  Canteen Chefs &amp; Staff</a:t>
            </a:r>
          </a:p>
          <a:p>
            <a:pPr>
              <a:spcAft>
                <a:spcPts val="10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  Kitchen staff overwhelmed by shouted orders and disorganized token sequences, causing erratic food delivery times.</a:t>
            </a:r>
          </a:p>
          <a:p>
            <a:pPr>
              <a:defRPr sz="1150" b="1">
                <a:solidFill>
                  <a:srgbClr val="FC8019"/>
                </a:solidFill>
                <a:latin typeface="Segoe UI"/>
              </a:defRPr>
            </a:pPr>
            <a:r>
              <a:t>⚠️  Canteen Management</a:t>
            </a:r>
          </a:p>
          <a:p>
            <a:pPr>
              <a:spcAft>
                <a:spcPts val="10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  Inability to predict demand, high food waste from over-preparation, and no analytics on peak-demand dishes.</a:t>
            </a:r>
          </a:p>
          <a:p>
            <a:pPr>
              <a:defRPr sz="1150" b="1">
                <a:solidFill>
                  <a:srgbClr val="FC8019"/>
                </a:solidFill>
                <a:latin typeface="Segoe UI"/>
              </a:defRPr>
            </a:pPr>
            <a:r>
              <a:t>⚠️  Campus Security &amp; Safety</a:t>
            </a:r>
          </a:p>
          <a:p>
            <a:pPr>
              <a:spcAft>
                <a:spcPts val="1000"/>
              </a:spcAft>
              <a:defRPr sz="1050">
                <a:solidFill>
                  <a:srgbClr val="686B78"/>
                </a:solidFill>
                <a:latin typeface="Segoe UI"/>
              </a:defRPr>
            </a:pPr>
            <a:r>
              <a:t>     Overcrowding in enclosed dining halls violates campus health and safety protocols during peak college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Project Objectives &amp; Scope of Work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Clear design targets and boundaries defined for the smart canteen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214884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1C3A"/>
                </a:solidFill>
                <a:latin typeface="Segoe UI"/>
              </a:defRPr>
            </a:pPr>
            <a:r>
              <a:t>1. Contactless Self-Ordering</a:t>
            </a:r>
          </a:p>
          <a:p>
            <a:pPr>
              <a:defRPr sz="1100">
                <a:solidFill>
                  <a:srgbClr val="686B78"/>
                </a:solidFill>
                <a:latin typeface="Segoe UI"/>
              </a:defRPr>
            </a:pPr>
            <a:r>
              <a:t>Empower students to browse 12+ live South Indian food items with images, dynamic category filters, search capabilities, and local cart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09728" cy="2148840"/>
          </a:xfrm>
          <a:prstGeom prst="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1C3A"/>
                </a:solidFill>
                <a:latin typeface="Segoe UI"/>
              </a:defRPr>
            </a:pPr>
            <a:r>
              <a:t>2. Atomic Sequential Token Generation</a:t>
            </a:r>
          </a:p>
          <a:p>
            <a:pPr>
              <a:defRPr sz="1100">
                <a:solidFill>
                  <a:srgbClr val="686B78"/>
                </a:solidFill>
                <a:latin typeface="Segoe UI"/>
              </a:defRPr>
            </a:pPr>
            <a:r>
              <a:t>Implement thread-safe synchronized token generation (T-0001, T-0002) in Spring Boot to guarantee zero duplication across simultaneous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214884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1C3A"/>
                </a:solidFill>
                <a:latin typeface="Segoe UI"/>
              </a:defRPr>
            </a:pPr>
            <a:r>
              <a:t>3. Real-Time Kitchen Display System (KDS)</a:t>
            </a:r>
          </a:p>
          <a:p>
            <a:pPr>
              <a:defRPr sz="1100">
                <a:solidFill>
                  <a:srgbClr val="686B78"/>
                </a:solidFill>
                <a:latin typeface="Segoe UI"/>
              </a:defRPr>
            </a:pPr>
            <a:r>
              <a:t>Provide kitchen staff with a live board that auto-refreshes every 5 seconds, enabling one-click order state transitions (PLACED -&gt; READY -&gt; COLLECTED).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109728" cy="2148840"/>
          </a:xfrm>
          <a:prstGeom prst="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60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1C3A"/>
                </a:solidFill>
                <a:latin typeface="Segoe UI"/>
              </a:defRPr>
            </a:pPr>
            <a:r>
              <a:t>4. Real-Time Audio-Visual Student Alerts</a:t>
            </a:r>
          </a:p>
          <a:p>
            <a:pPr>
              <a:defRPr sz="1100">
                <a:solidFill>
                  <a:srgbClr val="686B78"/>
                </a:solidFill>
                <a:latin typeface="Segoe UI"/>
              </a:defRPr>
            </a:pPr>
            <a:r>
              <a:t>Deliver asynchronous order status polling with Web Audio API chime, floating toasts, and modal popups the moment food is marked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F2A5C"/>
                </a:solidFill>
                <a:latin typeface="Segoe UI"/>
              </a:defRPr>
            </a:pPr>
            <a:r>
              <a:t>🎯 Scope: Web application + Desktop PWA + Supabase Cloud PostgreSQL database, ready for KARE Campus Canteen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4-Tier System Architecture &amp; Technology Stack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Robust enterprise layering ensuring high throughput, modularity, and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103120" cy="594360"/>
          </a:xfrm>
          <a:prstGeom prst="round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Tier 1: Presentation</a:t>
            </a:r>
          </a:p>
          <a:p>
            <a:pPr algn="ctr">
              <a:defRPr sz="900">
                <a:solidFill>
                  <a:srgbClr val="E6EBFA"/>
                </a:solidFill>
                <a:latin typeface="Segoe UI"/>
              </a:defRPr>
            </a:pPr>
            <a:r>
              <a:t>Client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Thymeleaf 3 Server-Side Engine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Swiggy / Zomato Modern CSS3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Vanilla JavaScript (ES6+)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HTML5 LocalStorage Cart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Web Audio API Sound Alerts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PWA Desktop 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103120" cy="594360"/>
          </a:xfrm>
          <a:prstGeom prst="round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Tier 2: Application</a:t>
            </a:r>
          </a:p>
          <a:p>
            <a:pPr algn="ctr">
              <a:defRPr sz="900">
                <a:solidFill>
                  <a:srgbClr val="E6EBFA"/>
                </a:solidFill>
                <a:latin typeface="Segoe UI"/>
              </a:defRPr>
            </a:pPr>
            <a:r>
              <a:t>Core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Java 17 (LTS Runtime)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Spring Boot 3.2.0 Framework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Spring Security 6 (RBAC)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Spring MVC Controllers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RESTful JSON Polling APIs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Embedded Tomcat 10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2103120" cy="594360"/>
          </a:xfrm>
          <a:prstGeom prst="round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Tier 3: Persistence</a:t>
            </a:r>
          </a:p>
          <a:p>
            <a:pPr algn="ctr">
              <a:defRPr sz="900">
                <a:solidFill>
                  <a:srgbClr val="E6EBFA"/>
                </a:solidFill>
                <a:latin typeface="Segoe UI"/>
              </a:defRPr>
            </a:pPr>
            <a:r>
              <a:t>Data Access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Spring Data JPA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Hibernate 6 ORM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HikariCP Connection Pool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Jakarta Bean Validation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Transactional Services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Sequential Token Generator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2103120" cy="594360"/>
          </a:xfrm>
          <a:prstGeom prst="round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Tier 4: Cloud DB</a:t>
            </a:r>
          </a:p>
          <a:p>
            <a:pPr algn="ctr">
              <a:defRPr sz="900">
                <a:solidFill>
                  <a:srgbClr val="E6EBFA"/>
                </a:solidFill>
                <a:latin typeface="Segoe UI"/>
              </a:defRPr>
            </a:pPr>
            <a:r>
              <a:t>Database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Supabase Cloud PostgreSQL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IPv4 Connection Pooler (6543)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SSL/TLS Encrypted JDBC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Automatic Schema Migration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Cascading Foreign Keys</a:t>
            </a:r>
          </a:p>
          <a:p>
            <a:pPr>
              <a:spcAft>
                <a:spcPts val="800"/>
              </a:spcAft>
              <a:defRPr sz="1050">
                <a:solidFill>
                  <a:srgbClr val="141C3A"/>
                </a:solidFill>
                <a:latin typeface="Segoe UI"/>
              </a:defRPr>
            </a:pPr>
            <a:r>
              <a:t>✔  High Availability 24/7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ARCHITECTURAL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System Block Diagram &amp; Component Interactions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End-to-end data flow between Student Client, Web Server, Controllers, and Cloud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2103120" cy="1645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1C3A"/>
                </a:solidFill>
                <a:latin typeface="Segoe UI"/>
              </a:defRPr>
            </a:pPr>
            <a:r>
              <a:t>STUDENT CLIENT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Mobile / Laptop Browser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Swiggy UI &amp; Cart (Local)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Polls /api/orders/{id}/status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Audio Chime on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023360"/>
            <a:ext cx="2103120" cy="1645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C8019"/>
                </a:solidFill>
                <a:latin typeface="Segoe UI"/>
              </a:defRPr>
            </a:pPr>
            <a:r>
              <a:t>KITCHEN ADMIN CLIENT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Kitchen Display Screen (KDS)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5-Sec Auto Refresh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Mark READY / COLLECTED</a:t>
            </a:r>
          </a:p>
          <a:p>
            <a:pPr>
              <a:defRPr sz="850">
                <a:solidFill>
                  <a:srgbClr val="686B78"/>
                </a:solidFill>
              </a:defRPr>
            </a:pPr>
            <a:r>
              <a:t>• Menu CRUD &amp;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77440"/>
            <a:ext cx="2103120" cy="2834640"/>
          </a:xfrm>
          <a:prstGeom prst="round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C8019"/>
                </a:solidFill>
                <a:latin typeface="Segoe UI"/>
              </a:defRPr>
            </a:pPr>
            <a:r>
              <a:t>SECURITY GATEWAY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Spring Security 6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─────────────────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CSRF Token Validator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BCrypt Password Auth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Role Interception: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  - /admin/** -&gt; ADMIN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  - /menu -&gt; STUDENT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Session &amp; Cookie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920240"/>
            <a:ext cx="2468880" cy="37490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49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4963F"/>
                </a:solidFill>
                <a:latin typeface="Segoe UI"/>
              </a:defRPr>
            </a:pPr>
            <a:r>
              <a:t>SPRING BOOT CORE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CONTROLLERS: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StudentController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AdminController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OrderApiController (REST)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AuthController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──────────────────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BUSINESS SERVICES: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OrderService (@Transactional)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  - Token Generator (T-000X)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  - Bill Computation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FoodItemService (Menu CRUD)</a:t>
            </a:r>
          </a:p>
          <a:p>
            <a:pPr>
              <a:defRPr sz="800">
                <a:solidFill>
                  <a:srgbClr val="141C3A"/>
                </a:solidFill>
              </a:defRPr>
            </a:pPr>
            <a:r>
              <a:t>• CustomUserDetailsService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377440"/>
            <a:ext cx="2286000" cy="2834640"/>
          </a:xfrm>
          <a:prstGeom prst="roundRect">
            <a:avLst/>
          </a:prstGeom>
          <a:solidFill>
            <a:srgbClr val="141C3A"/>
          </a:solidFill>
          <a:ln w="12700"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C8019"/>
                </a:solidFill>
                <a:latin typeface="Segoe UI"/>
              </a:defRPr>
            </a:pPr>
            <a:r>
              <a:t>SUPABASE CLOUD DB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PostgreSQL 15 Managed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TABLE ENTITIES: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users (Accounts/Roles)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food_items (Catalog)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orders (State/Total)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order_items (Items/Qty)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tokens (Unique Numbers)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HikariCP Connection Pool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SSL/TLS Encrypted Driver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Order Lifecycle: 6-Stage Workflow Architecture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Chronological end-to-end trace from student dish selection to kitchen fulfillment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83080"/>
            <a:ext cx="411480" cy="411480"/>
          </a:xfrm>
          <a:prstGeom prst="ellipse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5564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1: Auth &amp; Browse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Student logs in with college email. Explores South Indian menu categorized into Breakfast, Meals, Snacks, and Beverages.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1783080"/>
            <a:ext cx="411480" cy="411480"/>
          </a:xfrm>
          <a:prstGeom prst="ellipse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75564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2: Smart Cart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Student adjusts quantities with interactive steppers. Cart dynamically calculates subtotal, campus discount, and net payable amount.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6760" y="1783080"/>
            <a:ext cx="411480" cy="411480"/>
          </a:xfrm>
          <a:prstGeom prst="ellipse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5564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3: Secure Order Dispatch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Browser sends JSON payload via AJAX with CSRF token. Server validates stock and begins an atomic database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251960"/>
            <a:ext cx="411480" cy="411480"/>
          </a:xfrm>
          <a:prstGeom prst="ellipse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4: Token Generation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OrderService increments sequential counter, binds unique token (e.g. T-0001), persists status as PLACED, and renders confirmation receipt.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02336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4251960"/>
            <a:ext cx="411480" cy="411480"/>
          </a:xfrm>
          <a:prstGeom prst="ellipse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422452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5: Kitchen Prep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Order surfaces on the Kitchen Display Board. Chefs prepare dishes and click 'Mark Ready', flipping database state to READY.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02336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4251960"/>
            <a:ext cx="411480" cy="411480"/>
          </a:xfrm>
          <a:prstGeom prst="ellipse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24528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141C3A"/>
                </a:solidFill>
                <a:latin typeface="Segoe UI"/>
              </a:defRPr>
            </a:pPr>
            <a:r>
              <a:t>Step 6: Alert &amp; Pickup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Student device polling detects READY status, sounds Web Audio beep, shows popup. Student shows token at Counter 1-4 for collection.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CYBER SECURITY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Cyber Security &amp; Defensive Architecture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Specialized defense implementations evaluated for the Department of CSE - Cyber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146304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1C3A"/>
                </a:solidFill>
                <a:latin typeface="Segoe UI"/>
              </a:defRPr>
            </a:pPr>
            <a:r>
              <a:t>🔐 Cryptographic Password Hashing (BCrypt with Random Salt)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BCrypt password hashing algorithm with auto-generated salt.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Work factor ensures high computational cost, mitigating brute-force and rainbow table dictionary attacks.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Passwords are never stored or logged in plain text anywhere in memory or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91440" cy="1463040"/>
          </a:xfrm>
          <a:prstGeom prst="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1C3A"/>
                </a:solidFill>
                <a:latin typeface="Segoe UI"/>
              </a:defRPr>
            </a:pPr>
            <a:r>
              <a:t>🛡️ CSRF Token Validation (Synchronizer Token Pattern)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Spring Security generates unique, cryptographically random CSRF tokens per session.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Token is embedded in Thymeleaf meta tags and validated on all state-altering POST requests.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Guarantees that malicious third-party sites cannot submit unauthorized food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91440" cy="146304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1C3A"/>
                </a:solidFill>
                <a:latin typeface="Segoe UI"/>
              </a:defRPr>
            </a:pPr>
            <a:r>
              <a:t>🚦 Role-Based Access Control (RBAC) (URL Authorization &amp; Interception)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Strict authorization checks dividing ROLE_STUDENT and ROLE_ADMIN privileges.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/admin/** endpoints strictly restricted to verified canteen administrative staff.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Role-based dynamic UI rendering: Thymeleaf extras conditionally hide admin actions from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91440" cy="2286000"/>
          </a:xfrm>
          <a:prstGeom prst="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1C3A"/>
                </a:solidFill>
                <a:latin typeface="Segoe UI"/>
              </a:defRPr>
            </a:pPr>
            <a:r>
              <a:t>💉 SQL Injection (SQLi) Immunity (Parameterized JPA Queries)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100% Parameterized queries executed through Spring Data JPA and Hibernate ORM.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Zero raw string concatenations in database lookup or update statements.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Prepared statements guarantee user input is treated strictly as data, never executable SQL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77639"/>
            <a:ext cx="91440" cy="228600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1C3A"/>
                </a:solidFill>
                <a:latin typeface="Segoe UI"/>
              </a:defRPr>
            </a:pPr>
            <a:r>
              <a:t>👁️ Data Privacy &amp; Horizontal Isolation (Student Order Boundary Enforcement)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Students can strictly query and view only orders associated with their own user ID.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Prevents horizontal privilege escalation where an attacker attempts to snoop other tokens.</a:t>
            </a:r>
          </a:p>
          <a:p>
            <a:pPr>
              <a:spcAft>
                <a:spcPts val="2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• Order status polling API (/api/orders/{id}/status) verifies ownership before returning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RELATIONAL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Relational Database Schema &amp; Data Dictionary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5 core relational entities mapped in Supabase Cloud PostgreSQL with foreign key integrity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  <a:gridCol w="2468880"/>
                <a:gridCol w="25603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ATTRIBUTES &amp; DATA TYPES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CONSTRAINTS &amp; KEYS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 &amp; RELATION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C3A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id (BIGSERIAL), name (VARCHAR),</a:t>
                      </a:r>
                      <a:br/>
                      <a:r>
                        <a:t>email (VARCHAR), password_hash (VARCHAR),</a:t>
                      </a:r>
                      <a:br/>
                      <a:r>
                        <a:t>role (VARCHAR)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PK: id</a:t>
                      </a:r>
                      <a:br/>
                      <a:r>
                        <a:t>UNIQUE: email</a:t>
                      </a:r>
                      <a:br/>
                      <a:r>
                        <a:t>DEFAULT: 'STUDENT'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Stores student &amp; canteen admin credentials with BCrypt hashes.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C3A"/>
                          </a:solidFill>
                          <a:latin typeface="Segoe UI"/>
                        </a:defRPr>
                      </a:pPr>
                      <a:r>
                        <a:t>food_items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id (BIGSERIAL), name (VARCHAR),</a:t>
                      </a:r>
                      <a:br/>
                      <a:r>
                        <a:t>price (DOUBLE), category (VARCHAR),</a:t>
                      </a:r>
                      <a:br/>
                      <a:r>
                        <a:t>available (BOOLEAN), image_url (VARCHAR)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PK: id</a:t>
                      </a:r>
                      <a:br/>
                      <a:r>
                        <a:t>DEFAULT: available=TRUE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South Indian menu catalog with pricing, stock toggle, and image URLs.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C3A"/>
                          </a:solidFill>
                          <a:latin typeface="Segoe UI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id (BIGSERIAL), user_id (BIGINT),</a:t>
                      </a:r>
                      <a:br/>
                      <a:r>
                        <a:t>total (DOUBLE), status (VARCHAR),</a:t>
                      </a:r>
                      <a:br/>
                      <a:r>
                        <a:t>created_at (TIMESTAMP)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PK: id</a:t>
                      </a:r>
                      <a:br/>
                      <a:r>
                        <a:t>FK: user_id -&gt; users(id)</a:t>
                      </a:r>
                      <a:br/>
                      <a:r>
                        <a:t>ON DELETE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Tracks order lifecycle: PLACED -&gt; READY -&gt; COLLECTED, linked to student.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C3A"/>
                          </a:solidFill>
                          <a:latin typeface="Segoe UI"/>
                        </a:defRPr>
                      </a:pPr>
                      <a:r>
                        <a:t>order_items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id (BIGSERIAL), order_id (BIGINT),</a:t>
                      </a:r>
                      <a:br/>
                      <a:r>
                        <a:t>food_item_id (BIGINT), quantity (INT),</a:t>
                      </a:r>
                      <a:br/>
                      <a:r>
                        <a:t>price (DOUBLE)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PK: id</a:t>
                      </a:r>
                      <a:br/>
                      <a:r>
                        <a:t>FK: order_id -&gt; orders</a:t>
                      </a:r>
                      <a:br/>
                      <a:r>
                        <a:t>FK: food_item_id -&gt; food_items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Junction table storing itemized breakdown and quantities per order.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C3A"/>
                          </a:solidFill>
                          <a:latin typeface="Segoe UI"/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id (BIGSERIAL), order_id (BIGINT),</a:t>
                      </a:r>
                      <a:br/>
                      <a:r>
                        <a:t>token_no (VARCHAR), created_at (TIMESTAMP)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PK: id</a:t>
                      </a:r>
                      <a:br/>
                      <a:r>
                        <a:t>UNIQUE: token_no</a:t>
                      </a:r>
                      <a:br/>
                      <a:r>
                        <a:t>UNIQUE FK: order_id -&gt;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86B78"/>
                          </a:solidFill>
                          <a:latin typeface="Segoe UI"/>
                        </a:defRPr>
                      </a:pPr>
                      <a:r>
                        <a:t>Sequential digital token numbers (e.g. T-0001) for physical food pickup.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DESIGN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Modern Food-Tech UI/UX (Swiggy / Zomato Inspired)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Consumer-grade intuitive web interface optimized for both desktop and mobile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146304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🍔 Swiggy-Style Add Stepper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Seamless micro-interaction: clicking 'ADD +' transforms immediately into a '− 1 +' quantity stepper, synchronizing automatically with browser LocalStorage.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91440" cy="1463040"/>
          </a:xfrm>
          <a:prstGeom prst="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🛒 Sticky Floating Cart Bar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A bottom floating bar pops up the moment an item is added, displaying total item count and live subtotal with a quick 'View Cart ➔'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91440" cy="146304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🌱 FSSAI Pure-Veg Indicators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Every South Indian dish features an authentic green square &amp; dot FSSAI vegetarian indicator alongside high-resolution food photography.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546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91440" cy="1463040"/>
          </a:xfrm>
          <a:prstGeom prst="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🔔 Real-Time Audio Chime Alert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Synthesized Web Audio API 880Hz chime rings automatically on the student's device the exact second their order status changes to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91440" cy="146304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📱 Progressive Web App (PWA)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Includes manifest.json, standalone window launcher (Desktop-App.bat), and zero-browser-chrome mode for a native application feel.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754880"/>
            <a:ext cx="91440" cy="146304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C3A"/>
                </a:solidFill>
                <a:latin typeface="Segoe UI"/>
              </a:defRPr>
            </a:pPr>
            <a:r>
              <a:t>⚡ 1-Click Quick Demo Login</a:t>
            </a:r>
          </a:p>
          <a:p>
            <a:pPr>
              <a:defRPr sz="1000">
                <a:solidFill>
                  <a:srgbClr val="686B78"/>
                </a:solidFill>
                <a:latin typeface="Segoe UI"/>
              </a:defRPr>
            </a:pPr>
            <a:r>
              <a:t>Convenient demo login chips on the login screen for instant evaluation of both Student and Kitchen Admin roles without typing.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Key Advantages &amp; Multi-Stakeholder Benefits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Quantifiable time savings, operational clarity, and hygiene improvements across the institution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3108960" cy="457200"/>
          </a:xfrm>
          <a:prstGeom prst="round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Zero Physical Waiting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Eliminates standing in 20-minute lines during peak lunch hours; students wait comfortably at study tables.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Live Token Tracking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Real-time order state visibility removes the uncertainty of when food will be prepared.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Audible Bell Alert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Audio beep guarantees students won't miss their token call amidst canteen ambient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108960" cy="457200"/>
          </a:xfrm>
          <a:prstGeom prst="round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 Kitchen &amp; 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Digital Kitchen Board (KDS)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Chefs work from an organized, auto-updating queue instead of confusing paper slips.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One-Click Status Changes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Instantly updates students with a single button press ('Mark Ready' / 'Mark Collected').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Menu Stock Management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Admin can immediately mark finished items as 'Unavailable' to prevent out-of-stock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108960" cy="457200"/>
          </a:xfrm>
          <a:prstGeom prst="round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 College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Hygiene &amp; Crowd Control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Resolves campus cafeteria overcrowding, supporting health and fire safety guidelines.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Daily Financial Summary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Automated daily metrics report total tokens processed and exact revenue generated in INR.</a:t>
            </a:r>
          </a:p>
          <a:p>
            <a:pPr>
              <a:defRPr sz="1100" b="1">
                <a:solidFill>
                  <a:srgbClr val="141C3A"/>
                </a:solidFill>
                <a:latin typeface="Segoe UI"/>
              </a:defRPr>
            </a:pPr>
            <a:r>
              <a:t>✔  24/7 Cloud Architecture</a:t>
            </a:r>
          </a:p>
          <a:p>
            <a:pPr>
              <a:spcAft>
                <a:spcPts val="1000"/>
              </a:spcAft>
              <a:defRPr sz="950">
                <a:solidFill>
                  <a:srgbClr val="686B78"/>
                </a:solidFill>
                <a:latin typeface="Segoe UI"/>
              </a:defRPr>
            </a:pPr>
            <a:r>
              <a:t>Cloud PostgreSQL database requires zero local database servers or complex IT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System Limitations &amp; Technical Challenges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Objective analysis of current technical constraints and mitigation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1051560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C3A"/>
                </a:solidFill>
                <a:latin typeface="Segoe UI"/>
              </a:defRPr>
            </a:pPr>
            <a:r>
              <a:t>1. Campus Wi-Fi &amp; Network Dependency</a:t>
            </a:r>
          </a:p>
          <a:p>
            <a:pPr>
              <a:defRPr sz="950">
                <a:solidFill>
                  <a:srgbClr val="B43232"/>
                </a:solidFill>
                <a:latin typeface="Segoe UI"/>
              </a:defRPr>
            </a:pPr>
            <a:r>
              <a:t>•  Current Constraint: The live token polling system requires continuous network connectivity. If student device loses connection, status alerts may lag.</a:t>
            </a:r>
          </a:p>
          <a:p>
            <a:pPr>
              <a:defRPr sz="950">
                <a:solidFill>
                  <a:srgbClr val="24963F"/>
                </a:solidFill>
                <a:latin typeface="Segoe UI"/>
              </a:defRPr>
            </a:pPr>
            <a:r>
              <a:t>•  Mitigation / Defense: Offline cart state preserved in LocalStorage; polling resumes automatically once connection re-establishes.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24912"/>
            <a:ext cx="91440" cy="1051560"/>
          </a:xfrm>
          <a:prstGeom prst="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C3A"/>
                </a:solidFill>
                <a:latin typeface="Segoe UI"/>
              </a:defRPr>
            </a:pPr>
            <a:r>
              <a:t>2. HTTP Polling vs WebSockets</a:t>
            </a:r>
          </a:p>
          <a:p>
            <a:pPr>
              <a:defRPr sz="950">
                <a:solidFill>
                  <a:srgbClr val="B43232"/>
                </a:solidFill>
                <a:latin typeface="Segoe UI"/>
              </a:defRPr>
            </a:pPr>
            <a:r>
              <a:t>•  Current Constraint: Polling /api/orders/{id}/status every 5 seconds generates lightweight HTTP requests that scale with the number of active users.</a:t>
            </a:r>
          </a:p>
          <a:p>
            <a:pPr>
              <a:defRPr sz="950">
                <a:solidFill>
                  <a:srgbClr val="24963F"/>
                </a:solidFill>
                <a:latin typeface="Segoe UI"/>
              </a:defRPr>
            </a:pPr>
            <a:r>
              <a:t>•  Mitigation / Defense: Polling interval is tuned to 5s with lightweight JSON response (&lt;100 bytes); transition to WebSocket (STOMP) planned for Phase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95344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95344"/>
            <a:ext cx="91440" cy="1051560"/>
          </a:xfrm>
          <a:prstGeom prst="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3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C3A"/>
                </a:solidFill>
                <a:latin typeface="Segoe UI"/>
              </a:defRPr>
            </a:pPr>
            <a:r>
              <a:t>3. Digital Literacy for Contract Staff</a:t>
            </a:r>
          </a:p>
          <a:p>
            <a:pPr>
              <a:defRPr sz="950">
                <a:solidFill>
                  <a:srgbClr val="B43232"/>
                </a:solidFill>
                <a:latin typeface="Segoe UI"/>
              </a:defRPr>
            </a:pPr>
            <a:r>
              <a:t>•  Current Constraint: Canteen kitchen helpers might initially find digital screens unfamiliar compared to manual paper tickets.</a:t>
            </a:r>
          </a:p>
          <a:p>
            <a:pPr>
              <a:defRPr sz="950">
                <a:solidFill>
                  <a:srgbClr val="24963F"/>
                </a:solidFill>
                <a:latin typeface="Segoe UI"/>
              </a:defRPr>
            </a:pPr>
            <a:r>
              <a:t>•  Mitigation / Defense: High-contrast UI designed with large green and navy action buttons requiring only a single tap to transition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65776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65776"/>
            <a:ext cx="91440" cy="1051560"/>
          </a:xfrm>
          <a:prstGeom prst="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5721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C3A"/>
                </a:solidFill>
                <a:latin typeface="Segoe UI"/>
              </a:defRPr>
            </a:pPr>
            <a:r>
              <a:t>4. Payment Gateway Integration</a:t>
            </a:r>
          </a:p>
          <a:p>
            <a:pPr>
              <a:defRPr sz="950">
                <a:solidFill>
                  <a:srgbClr val="B43232"/>
                </a:solidFill>
                <a:latin typeface="Segoe UI"/>
              </a:defRPr>
            </a:pPr>
            <a:r>
              <a:t>•  Current Constraint: Phase 1 implements server-side token accounting without direct online UPI / card payment processing.</a:t>
            </a:r>
          </a:p>
          <a:p>
            <a:pPr>
              <a:defRPr sz="950">
                <a:solidFill>
                  <a:srgbClr val="24963F"/>
                </a:solidFill>
                <a:latin typeface="Segoe UI"/>
              </a:defRPr>
            </a:pPr>
            <a:r>
              <a:t>•  Mitigation / Defense: Architecture includes modular order_id and total fields ready to plug in Razorpay / PhonePe webhooks.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Future Enhancements &amp; Scalability Plan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Strategic technology extensions for campus-wide deployment across Kalasalingam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103120" cy="594360"/>
          </a:xfrm>
          <a:prstGeom prst="round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2: Payment Gateway</a:t>
            </a:r>
          </a:p>
          <a:p>
            <a:pPr algn="ctr">
              <a:defRPr sz="850">
                <a:solidFill>
                  <a:srgbClr val="E6EBFA"/>
                </a:solidFill>
                <a:latin typeface="Segoe UI"/>
              </a:defRPr>
            </a:pPr>
            <a:r>
              <a:t>UPI &amp; College RFID Smart Card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Integrate Razorpay / PhonePe UPI payment gateway for seamless in-app payments.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Connect KARE Student RFID identity cards via NFC readers for campus wallet deductions.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Eliminate all cash exchanges at canteen counters.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103120" cy="594360"/>
          </a:xfrm>
          <a:prstGeom prst="roundRect">
            <a:avLst/>
          </a:prstGeom>
          <a:solidFill>
            <a:srgbClr val="1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3: WebSocket Push</a:t>
            </a:r>
          </a:p>
          <a:p>
            <a:pPr algn="ctr">
              <a:defRPr sz="850">
                <a:solidFill>
                  <a:srgbClr val="E6EBFA"/>
                </a:solidFill>
                <a:latin typeface="Segoe UI"/>
              </a:defRPr>
            </a:pPr>
            <a:r>
              <a:t>Bi-directional WebSocket &amp; Push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Upgrade status polling engine to Spring WebSockets (STOMP protocol over SockJS).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Zero network polling overhead; server pushes order status instantaneously.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Integrate Web Push Notifications and WhatsApp token alert triggers.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2103120" cy="594360"/>
          </a:xfrm>
          <a:prstGeom prst="roundRect">
            <a:avLst/>
          </a:prstGeom>
          <a:solidFill>
            <a:srgbClr val="24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4: Counter QR Scanner</a:t>
            </a:r>
          </a:p>
          <a:p>
            <a:pPr algn="ctr">
              <a:defRPr sz="850">
                <a:solidFill>
                  <a:srgbClr val="E6EBFA"/>
                </a:solidFill>
                <a:latin typeface="Segoe UI"/>
              </a:defRPr>
            </a:pPr>
            <a:r>
              <a:t>Automated Token Verification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Generate dynamic encrypted QR codes for every token on confirmation screen.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Install budget barcode/QR scanners at Canteen Counter 1-4 for hands-free token redemption.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Eliminates manual staff clicking for order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2103120" cy="594360"/>
          </a:xfrm>
          <a:prstGeom prst="roundRect">
            <a:avLst/>
          </a:prstGeom>
          <a:solidFill>
            <a:srgbClr val="2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5: AI Kitchen Predictor</a:t>
            </a:r>
          </a:p>
          <a:p>
            <a:pPr algn="ctr">
              <a:defRPr sz="850">
                <a:solidFill>
                  <a:srgbClr val="E6EBFA"/>
                </a:solidFill>
                <a:latin typeface="Segoe UI"/>
              </a:defRPr>
            </a:pPr>
            <a:r>
              <a:t>Machine Learning 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Analyze historical ordering data to forecast daily food consumption per dish.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Provide canteen chef with automated morning preparation estimates.</a:t>
            </a:r>
          </a:p>
          <a:p>
            <a:pPr>
              <a:spcAft>
                <a:spcPts val="800"/>
              </a:spcAft>
              <a:defRPr sz="1000">
                <a:solidFill>
                  <a:srgbClr val="141C3A"/>
                </a:solidFill>
                <a:latin typeface="Segoe UI"/>
              </a:defRPr>
            </a:pPr>
            <a:r>
              <a:t>•  Minimizes campus food wastage by up to 35%.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FF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1000" b="1">
                <a:solidFill>
                  <a:srgbClr val="FC8019"/>
                </a:solidFill>
                <a:latin typeface="Segoe UI"/>
              </a:defRPr>
            </a:pPr>
            <a:r>
              <a:t>PROJECT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141C3A"/>
                </a:solidFill>
                <a:latin typeface="Segoe UI"/>
              </a:defRPr>
            </a:pPr>
            <a:r>
              <a:t>Conclusion &amp; Key Takeaways</a:t>
            </a:r>
          </a:p>
          <a:p>
            <a:pPr>
              <a:defRPr sz="1200">
                <a:solidFill>
                  <a:srgbClr val="686B78"/>
                </a:solidFill>
                <a:latin typeface="Segoe UI"/>
              </a:defRPr>
            </a:pPr>
            <a:r>
              <a:t>Successful delivery of a secure, production-grade smart canteen automation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2A5C"/>
                </a:solidFill>
                <a:latin typeface="Segoe UI"/>
              </a:defRPr>
            </a:pPr>
            <a:r>
              <a:t>Summary of Completed Deliverables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✔  Fully Operational Full-Stack Platform</a:t>
            </a:r>
          </a:p>
          <a:p>
            <a:pPr>
              <a:spcAft>
                <a:spcPts val="8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Built complete layered Java Spring Boot 3 web application with 64 files, Thymeleaf templates, and Swiggy-inspired CSS.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✔  Live Cloud Database Integration</a:t>
            </a:r>
          </a:p>
          <a:p>
            <a:pPr>
              <a:spcAft>
                <a:spcPts val="8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Successfully connected to Supabase Cloud PostgreSQL via SSL connection pooler; tested with 12 South Indian menu items.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✔  Real-Time Order-Token Lifecycle</a:t>
            </a:r>
          </a:p>
          <a:p>
            <a:pPr>
              <a:spcAft>
                <a:spcPts val="8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End-to-end token generation (T-0001), 5-second polling, audio beep notifications, and kitchen display status transitions tested and verified.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✔  Cyber Security Compliance</a:t>
            </a:r>
          </a:p>
          <a:p>
            <a:pPr>
              <a:spcAft>
                <a:spcPts val="8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Demonstrated robust defense mechanisms (BCrypt password hashing, CSRF synchronizer tokens, RBAC URL filters, and SQLi-immune JPA queries).</a:t>
            </a:r>
          </a:p>
          <a:p>
            <a:pPr>
              <a:defRPr sz="1150" b="1">
                <a:solidFill>
                  <a:srgbClr val="141C3A"/>
                </a:solidFill>
                <a:latin typeface="Segoe UI"/>
              </a:defRPr>
            </a:pPr>
            <a:r>
              <a:t>✔  Campus Deployment Readiness</a:t>
            </a:r>
          </a:p>
          <a:p>
            <a:pPr>
              <a:spcAft>
                <a:spcPts val="800"/>
              </a:spcAft>
              <a:defRPr sz="1000">
                <a:solidFill>
                  <a:srgbClr val="686B78"/>
                </a:solidFill>
                <a:latin typeface="Segoe UI"/>
              </a:defRPr>
            </a:pPr>
            <a:r>
              <a:t>    Includes 1-click desktop runner (Desktop-App.bat), Cloudflare public mobile sharing (share-public-link.bat), and Dockerfile for cloud hosting.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54480"/>
            <a:ext cx="3566160" cy="4572000"/>
          </a:xfrm>
          <a:prstGeom prst="round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FC8019"/>
                </a:solidFill>
                <a:latin typeface="Segoe UI"/>
              </a:defRPr>
            </a:pPr>
            <a:r>
              <a:t>System Metrics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75%</a:t>
            </a:r>
          </a:p>
          <a:p>
            <a:pPr>
              <a:defRPr sz="950" b="1">
                <a:solidFill>
                  <a:srgbClr val="FC8019"/>
                </a:solidFill>
                <a:latin typeface="Segoe UI"/>
              </a:defRPr>
            </a:pPr>
            <a:r>
              <a:t>QUEUE TIME REDUCTION</a:t>
            </a:r>
          </a:p>
          <a:p>
            <a:pPr>
              <a:spcAft>
                <a:spcPts val="1000"/>
              </a:spcAft>
              <a:defRPr sz="900">
                <a:solidFill>
                  <a:srgbClr val="B4BEDC"/>
                </a:solidFill>
                <a:latin typeface="Segoe UI"/>
              </a:defRPr>
            </a:pPr>
            <a:r>
              <a:t>Estimated drop in student counter congestion during peak hours.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100%</a:t>
            </a:r>
          </a:p>
          <a:p>
            <a:pPr>
              <a:defRPr sz="950" b="1">
                <a:solidFill>
                  <a:srgbClr val="FC8019"/>
                </a:solidFill>
                <a:latin typeface="Segoe UI"/>
              </a:defRPr>
            </a:pPr>
            <a:r>
              <a:t>TOKEN COLLISION FREE</a:t>
            </a:r>
          </a:p>
          <a:p>
            <a:pPr>
              <a:spcAft>
                <a:spcPts val="1000"/>
              </a:spcAft>
              <a:defRPr sz="900">
                <a:solidFill>
                  <a:srgbClr val="B4BEDC"/>
                </a:solidFill>
                <a:latin typeface="Segoe UI"/>
              </a:defRPr>
            </a:pPr>
            <a:r>
              <a:t>Atomic thread-safe sequential generator eliminates duplicate slips.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12+</a:t>
            </a:r>
          </a:p>
          <a:p>
            <a:pPr>
              <a:defRPr sz="950" b="1">
                <a:solidFill>
                  <a:srgbClr val="FC8019"/>
                </a:solidFill>
                <a:latin typeface="Segoe UI"/>
              </a:defRPr>
            </a:pPr>
            <a:r>
              <a:t>SOUTH INDIAN DELICACIES</a:t>
            </a:r>
          </a:p>
          <a:p>
            <a:pPr>
              <a:spcAft>
                <a:spcPts val="1000"/>
              </a:spcAft>
              <a:defRPr sz="900">
                <a:solidFill>
                  <a:srgbClr val="B4BEDC"/>
                </a:solidFill>
                <a:latin typeface="Segoe UI"/>
              </a:defRPr>
            </a:pPr>
            <a:r>
              <a:t>Pre-loaded menu catalog with live stock toggles and high-res imagery.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24 / 7</a:t>
            </a:r>
          </a:p>
          <a:p>
            <a:pPr>
              <a:defRPr sz="950" b="1">
                <a:solidFill>
                  <a:srgbClr val="FC8019"/>
                </a:solidFill>
                <a:latin typeface="Segoe UI"/>
              </a:defRPr>
            </a:pPr>
            <a:r>
              <a:t>CLOUD AVAILABILITY</a:t>
            </a:r>
          </a:p>
          <a:p>
            <a:pPr>
              <a:spcAft>
                <a:spcPts val="1000"/>
              </a:spcAft>
              <a:defRPr sz="900">
                <a:solidFill>
                  <a:srgbClr val="B4BEDC"/>
                </a:solidFill>
                <a:latin typeface="Segoe UI"/>
              </a:defRPr>
            </a:pPr>
            <a:r>
              <a:t>Supabase PostgreSQL hosted in Mumbai datacenter with SSL.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1F2A5C"/>
          </a:solidFill>
          <a:ln w="12700">
            <a:solidFill>
              <a:srgbClr val="2B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371600"/>
            <a:ext cx="79552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FC8019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Questions &amp; Feedback Welcome</a:t>
            </a:r>
          </a:p>
          <a:p>
            <a:pPr algn="ctr">
              <a:defRPr sz="1400" b="1">
                <a:solidFill>
                  <a:srgbClr val="FFC896"/>
                </a:solidFill>
                <a:latin typeface="Segoe UI"/>
              </a:defRPr>
            </a:pPr>
            <a:r>
              <a:t>SMART CANTEEN TOKEN SYSTEM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2EB"/>
                </a:solidFill>
                <a:latin typeface="Segoe UI"/>
              </a:defRPr>
            </a:pPr>
            <a:r>
              <a:t>Kalasalingam Academy of Research and Education</a:t>
            </a:r>
            <a:br/>
            <a:r>
              <a:t>Department of Computer Science and Engineering (Cyber Security)</a:t>
            </a:r>
          </a:p>
          <a:p>
            <a:pPr algn="ctr">
              <a:defRPr sz="1100">
                <a:solidFill>
                  <a:srgbClr val="24963F"/>
                </a:solidFill>
                <a:latin typeface="Segoe UI"/>
              </a:defRPr>
            </a:pPr>
            <a:r>
              <a:t>Live Demo Ready on http://localhost:8080 &amp; Supabase Cloud</a:t>
            </a:r>
            <a:br/>
            <a:r>
              <a:t>Student Login: student@kare.edu | Admin Login: admin@kare.edu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